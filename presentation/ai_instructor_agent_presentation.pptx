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24384000" cy="13716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750">
          <p15:clr>
            <a:srgbClr val="A4A3A4"/>
          </p15:clr>
        </p15:guide>
        <p15:guide id="2" pos="467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204" y="80"/>
      </p:cViewPr>
      <p:guideLst>
        <p:guide orient="horz" pos="750"/>
        <p:guide pos="467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d9df42e6c4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5" name="Google Shape;115;g3d9df42e6c4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9df42e6c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2" name="Google Shape;162;g3d9df42e6c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d9df42e6c4_2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5" name="Google Shape;185;g3d9df42e6c4_2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d9df42e6c4_2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0" name="Google Shape;210;g3d9df42e6c4_2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d9df42e6c4_2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6" name="Google Shape;226;g3d9df42e6c4_2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d9df42e6c4_5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d9df42e6c4_5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drive.google.com/file/d/1y6zZdX-deV_agKPBHYgBExkc9QiE8WwA/view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68477" y="-78260"/>
            <a:ext cx="24520956" cy="13872519"/>
          </a:xfrm>
          <a:prstGeom prst="rect">
            <a:avLst/>
          </a:prstGeom>
          <a:noFill/>
          <a:ln>
            <a:noFill/>
          </a:ln>
          <a:effectLst>
            <a:outerShdw blurRad="403860">
              <a:srgbClr val="000000">
                <a:alpha val="18039"/>
              </a:srgbClr>
            </a:outerShdw>
          </a:effectLst>
        </p:spPr>
      </p:pic>
      <p:sp>
        <p:nvSpPr>
          <p:cNvPr id="85" name="Google Shape;85;p13"/>
          <p:cNvSpPr txBox="1"/>
          <p:nvPr/>
        </p:nvSpPr>
        <p:spPr>
          <a:xfrm>
            <a:off x="117625" y="13042900"/>
            <a:ext cx="33438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8450" rIns="0" bIns="278450" anchor="ctr" anchorCtr="0">
            <a:noAutofit/>
          </a:bodyPr>
          <a:lstStyle/>
          <a:p>
            <a:pPr marL="0" marR="0" lvl="0" indent="0" algn="l" rtl="0">
              <a:lnSpc>
                <a:spcPct val="97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0"/>
              <a:buFont typeface="Arial"/>
              <a:buNone/>
            </a:pPr>
            <a:r>
              <a:rPr lang="en" sz="40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AI_03반_08조 </a:t>
            </a:r>
            <a:endParaRPr sz="40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037800" y="12293600"/>
            <a:ext cx="749300" cy="7493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1676400" y="3429000"/>
            <a:ext cx="20878800" cy="622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8450" rIns="0" bIns="278450" anchor="ctr" anchorCtr="0">
            <a:noAutofit/>
          </a:bodyPr>
          <a:lstStyle/>
          <a:p>
            <a:pPr marL="0" marR="0" lvl="0" indent="0" algn="ctr" rtl="0">
              <a:lnSpc>
                <a:spcPct val="97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0"/>
              <a:buFont typeface="Arial"/>
              <a:buNone/>
            </a:pPr>
            <a:r>
              <a:rPr lang="en" sz="133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AI Agent 강사 구현</a:t>
            </a:r>
            <a:endParaRPr sz="133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7553484" y="10952434"/>
            <a:ext cx="7760400" cy="363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78450" rIns="0" bIns="278450" anchor="ctr" anchorCtr="0">
            <a:noAutofit/>
          </a:bodyPr>
          <a:lstStyle/>
          <a:p>
            <a:pPr marL="0" marR="0" lvl="0" indent="0" algn="l" rtl="0">
              <a:lnSpc>
                <a:spcPct val="97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김민지 김정욱 김정수 </a:t>
            </a:r>
            <a:r>
              <a:rPr lang="en" sz="4400">
                <a:solidFill>
                  <a:srgbClr val="FFFFFF"/>
                </a:solidFill>
              </a:rPr>
              <a:t>김준형</a:t>
            </a:r>
            <a:endParaRPr sz="4400">
              <a:solidFill>
                <a:srgbClr val="FFFFFF"/>
              </a:solidFill>
            </a:endParaRPr>
          </a:p>
          <a:p>
            <a:pPr marL="0" marR="0" lvl="0" indent="0" algn="l" rtl="0">
              <a:lnSpc>
                <a:spcPct val="971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lang="en" sz="4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이지윤 장현지 주상현</a:t>
            </a:r>
            <a:endParaRPr sz="4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3418075" y="-78250"/>
            <a:ext cx="10344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00" rIns="0" bIns="2200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1page </a:t>
            </a:r>
            <a:endParaRPr sz="2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BFB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2" cy="4025900"/>
          </a:xfrm>
          <a:prstGeom prst="rect">
            <a:avLst/>
          </a:prstGeom>
          <a:noFill/>
          <a:ln>
            <a:noFill/>
          </a:ln>
          <a:effectLst>
            <a:outerShdw blurRad="353871">
              <a:srgbClr val="000000">
                <a:alpha val="14117"/>
              </a:srgbClr>
            </a:outerShdw>
          </a:effectLst>
        </p:spPr>
      </p:pic>
      <p:sp>
        <p:nvSpPr>
          <p:cNvPr id="95" name="Google Shape;95;p14"/>
          <p:cNvSpPr txBox="1"/>
          <p:nvPr/>
        </p:nvSpPr>
        <p:spPr>
          <a:xfrm>
            <a:off x="4127500" y="1727200"/>
            <a:ext cx="16128900" cy="10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525" rIns="0" bIns="38525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67"/>
              <a:buFont typeface="Arial"/>
              <a:buNone/>
            </a:pPr>
            <a:r>
              <a:rPr lang="en" sz="6067" b="1">
                <a:solidFill>
                  <a:srgbClr val="FFFFFF"/>
                </a:solidFill>
              </a:rPr>
              <a:t>목차</a:t>
            </a:r>
            <a:endParaRPr sz="14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6500" y="6249242"/>
            <a:ext cx="22150256" cy="1416075"/>
          </a:xfrm>
          <a:prstGeom prst="rect">
            <a:avLst/>
          </a:prstGeom>
          <a:noFill/>
          <a:ln>
            <a:noFill/>
          </a:ln>
          <a:effectLst>
            <a:outerShdw blurRad="170478">
              <a:srgbClr val="000000">
                <a:alpha val="14120"/>
              </a:srgbClr>
            </a:outerShdw>
          </a:effectLst>
        </p:spPr>
      </p:pic>
      <p:sp>
        <p:nvSpPr>
          <p:cNvPr id="97" name="Google Shape;97;p14"/>
          <p:cNvSpPr txBox="1"/>
          <p:nvPr/>
        </p:nvSpPr>
        <p:spPr>
          <a:xfrm>
            <a:off x="2279441" y="6620961"/>
            <a:ext cx="199245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75" rIns="0" bIns="52775" anchor="ctr" anchorCtr="0">
            <a:noAutofit/>
          </a:bodyPr>
          <a:lstStyle/>
          <a:p>
            <a:pPr marL="0" marR="0" lvl="0" indent="0" algn="ctr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D4D4D"/>
                </a:solidFill>
              </a:rPr>
              <a:t>문제상황</a:t>
            </a:r>
            <a:endParaRPr sz="4000" b="1"/>
          </a:p>
        </p:txBody>
      </p:sp>
      <p:sp>
        <p:nvSpPr>
          <p:cNvPr id="98" name="Google Shape;98;p14"/>
          <p:cNvSpPr txBox="1"/>
          <p:nvPr/>
        </p:nvSpPr>
        <p:spPr>
          <a:xfrm>
            <a:off x="1030775" y="6320045"/>
            <a:ext cx="11673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00" tIns="58975" rIns="118000" bIns="58975" anchor="ctr" anchorCtr="0">
            <a:noAutofit/>
          </a:bodyPr>
          <a:lstStyle/>
          <a:p>
            <a:pPr marL="0" marR="0" lvl="0" indent="0" algn="ctr" rtl="0">
              <a:lnSpc>
                <a:spcPct val="12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61">
                <a:solidFill>
                  <a:srgbClr val="FFFFFF"/>
                </a:solidFill>
              </a:rPr>
              <a:t>2</a:t>
            </a:r>
            <a:endParaRPr sz="1807"/>
          </a:p>
        </p:txBody>
      </p:sp>
      <p:pic>
        <p:nvPicPr>
          <p:cNvPr id="99" name="Google Shape;99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6500" y="8090139"/>
            <a:ext cx="22150256" cy="1416075"/>
          </a:xfrm>
          <a:prstGeom prst="rect">
            <a:avLst/>
          </a:prstGeom>
          <a:noFill/>
          <a:ln>
            <a:noFill/>
          </a:ln>
          <a:effectLst>
            <a:outerShdw blurRad="170478">
              <a:srgbClr val="000000">
                <a:alpha val="14120"/>
              </a:srgbClr>
            </a:outerShdw>
          </a:effectLst>
        </p:spPr>
      </p:pic>
      <p:sp>
        <p:nvSpPr>
          <p:cNvPr id="100" name="Google Shape;100;p14"/>
          <p:cNvSpPr txBox="1"/>
          <p:nvPr/>
        </p:nvSpPr>
        <p:spPr>
          <a:xfrm>
            <a:off x="2388021" y="8461859"/>
            <a:ext cx="197076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75" rIns="0" bIns="52775" anchor="ctr" anchorCtr="0">
            <a:noAutofit/>
          </a:bodyPr>
          <a:lstStyle/>
          <a:p>
            <a:pPr marL="0" marR="0" lvl="0" indent="0" algn="ctr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D4D4D"/>
                </a:solidFill>
              </a:rPr>
              <a:t>해결 방법</a:t>
            </a:r>
            <a:endParaRPr sz="4000" b="1"/>
          </a:p>
        </p:txBody>
      </p:sp>
      <p:sp>
        <p:nvSpPr>
          <p:cNvPr id="101" name="Google Shape;101;p14"/>
          <p:cNvSpPr txBox="1"/>
          <p:nvPr/>
        </p:nvSpPr>
        <p:spPr>
          <a:xfrm>
            <a:off x="1030775" y="8160943"/>
            <a:ext cx="11673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00" tIns="58975" rIns="118000" bIns="58975" anchor="ctr" anchorCtr="0">
            <a:noAutofit/>
          </a:bodyPr>
          <a:lstStyle/>
          <a:p>
            <a:pPr marL="0" marR="0" lvl="0" indent="0" algn="ctr" rtl="0">
              <a:lnSpc>
                <a:spcPct val="12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6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807"/>
          </a:p>
        </p:txBody>
      </p:sp>
      <p:pic>
        <p:nvPicPr>
          <p:cNvPr id="102" name="Google Shape;102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6500" y="9948738"/>
            <a:ext cx="22150256" cy="1416075"/>
          </a:xfrm>
          <a:prstGeom prst="rect">
            <a:avLst/>
          </a:prstGeom>
          <a:noFill/>
          <a:ln>
            <a:noFill/>
          </a:ln>
          <a:effectLst>
            <a:outerShdw blurRad="170478">
              <a:srgbClr val="000000">
                <a:alpha val="14120"/>
              </a:srgbClr>
            </a:outerShdw>
          </a:effectLst>
        </p:spPr>
      </p:pic>
      <p:sp>
        <p:nvSpPr>
          <p:cNvPr id="103" name="Google Shape;103;p14"/>
          <p:cNvSpPr txBox="1"/>
          <p:nvPr/>
        </p:nvSpPr>
        <p:spPr>
          <a:xfrm>
            <a:off x="2279441" y="10320457"/>
            <a:ext cx="199245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75" rIns="0" bIns="52775" anchor="ctr" anchorCtr="0">
            <a:noAutofit/>
          </a:bodyPr>
          <a:lstStyle/>
          <a:p>
            <a:pPr marL="0" marR="0" lvl="0" indent="0" algn="ctr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D4D4D"/>
                </a:solidFill>
              </a:rPr>
              <a:t>개선 내용 (고도화)</a:t>
            </a:r>
            <a:endParaRPr sz="4000" b="1"/>
          </a:p>
        </p:txBody>
      </p:sp>
      <p:sp>
        <p:nvSpPr>
          <p:cNvPr id="104" name="Google Shape;104;p14"/>
          <p:cNvSpPr txBox="1"/>
          <p:nvPr/>
        </p:nvSpPr>
        <p:spPr>
          <a:xfrm>
            <a:off x="1030775" y="10019541"/>
            <a:ext cx="11673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00" tIns="58975" rIns="118000" bIns="58975" anchor="ctr" anchorCtr="0">
            <a:noAutofit/>
          </a:bodyPr>
          <a:lstStyle/>
          <a:p>
            <a:pPr marL="0" marR="0" lvl="0" indent="0" algn="ctr" rtl="0">
              <a:lnSpc>
                <a:spcPct val="12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61">
                <a:solidFill>
                  <a:srgbClr val="FFFFFF"/>
                </a:solidFill>
              </a:rPr>
              <a:t>4</a:t>
            </a:r>
            <a:endParaRPr sz="1807"/>
          </a:p>
        </p:txBody>
      </p:sp>
      <p:pic>
        <p:nvPicPr>
          <p:cNvPr id="105" name="Google Shape;105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2919" y="11807325"/>
            <a:ext cx="22150256" cy="1416075"/>
          </a:xfrm>
          <a:prstGeom prst="rect">
            <a:avLst/>
          </a:prstGeom>
          <a:noFill/>
          <a:ln>
            <a:noFill/>
          </a:ln>
          <a:effectLst>
            <a:outerShdw blurRad="170478">
              <a:srgbClr val="000000">
                <a:alpha val="14120"/>
              </a:srgbClr>
            </a:outerShdw>
          </a:effectLst>
        </p:spPr>
      </p:pic>
      <p:sp>
        <p:nvSpPr>
          <p:cNvPr id="106" name="Google Shape;106;p14"/>
          <p:cNvSpPr txBox="1"/>
          <p:nvPr/>
        </p:nvSpPr>
        <p:spPr>
          <a:xfrm>
            <a:off x="2315861" y="12179044"/>
            <a:ext cx="199245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75" rIns="0" bIns="52775" anchor="ctr" anchorCtr="0">
            <a:noAutofit/>
          </a:bodyPr>
          <a:lstStyle/>
          <a:p>
            <a:pPr marL="0" marR="0" lvl="0" indent="0" algn="ctr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D4D4D"/>
                </a:solidFill>
              </a:rPr>
              <a:t>결과 및 확장</a:t>
            </a:r>
            <a:endParaRPr sz="4000" b="1"/>
          </a:p>
        </p:txBody>
      </p:sp>
      <p:sp>
        <p:nvSpPr>
          <p:cNvPr id="107" name="Google Shape;107;p14"/>
          <p:cNvSpPr txBox="1"/>
          <p:nvPr/>
        </p:nvSpPr>
        <p:spPr>
          <a:xfrm>
            <a:off x="1067194" y="11878128"/>
            <a:ext cx="11673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00" tIns="58975" rIns="118000" bIns="58975" anchor="ctr" anchorCtr="0">
            <a:noAutofit/>
          </a:bodyPr>
          <a:lstStyle/>
          <a:p>
            <a:pPr marL="0" marR="0" lvl="0" indent="0" algn="ctr" rtl="0">
              <a:lnSpc>
                <a:spcPct val="12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61">
                <a:solidFill>
                  <a:srgbClr val="FFFFFF"/>
                </a:solidFill>
              </a:rPr>
              <a:t>5</a:t>
            </a:r>
            <a:endParaRPr sz="1807"/>
          </a:p>
        </p:txBody>
      </p:sp>
      <p:pic>
        <p:nvPicPr>
          <p:cNvPr id="108" name="Google Shape;108;p1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02919" y="4408325"/>
            <a:ext cx="22150256" cy="1416075"/>
          </a:xfrm>
          <a:prstGeom prst="rect">
            <a:avLst/>
          </a:prstGeom>
          <a:noFill/>
          <a:ln>
            <a:noFill/>
          </a:ln>
          <a:effectLst>
            <a:outerShdw blurRad="170478">
              <a:srgbClr val="000000">
                <a:alpha val="14120"/>
              </a:srgbClr>
            </a:outerShdw>
          </a:effectLst>
        </p:spPr>
      </p:pic>
      <p:sp>
        <p:nvSpPr>
          <p:cNvPr id="109" name="Google Shape;109;p14"/>
          <p:cNvSpPr txBox="1"/>
          <p:nvPr/>
        </p:nvSpPr>
        <p:spPr>
          <a:xfrm>
            <a:off x="2315861" y="4780045"/>
            <a:ext cx="19924500" cy="67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52775" rIns="0" bIns="52775" anchor="ctr" anchorCtr="0">
            <a:noAutofit/>
          </a:bodyPr>
          <a:lstStyle/>
          <a:p>
            <a:pPr marL="0" marR="0" lvl="0" indent="0" algn="ctr" rtl="0">
              <a:lnSpc>
                <a:spcPct val="962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1">
                <a:solidFill>
                  <a:srgbClr val="4D4D4D"/>
                </a:solidFill>
              </a:rPr>
              <a:t>요약</a:t>
            </a:r>
            <a:endParaRPr sz="4000" b="1"/>
          </a:p>
        </p:txBody>
      </p:sp>
      <p:sp>
        <p:nvSpPr>
          <p:cNvPr id="110" name="Google Shape;110;p14"/>
          <p:cNvSpPr txBox="1"/>
          <p:nvPr/>
        </p:nvSpPr>
        <p:spPr>
          <a:xfrm>
            <a:off x="1067194" y="4516901"/>
            <a:ext cx="1167300" cy="6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00" tIns="58975" rIns="118000" bIns="58975" anchor="ctr" anchorCtr="0">
            <a:noAutofit/>
          </a:bodyPr>
          <a:lstStyle/>
          <a:p>
            <a:pPr marL="0" marR="0" lvl="0" indent="0" algn="ctr" rtl="0">
              <a:lnSpc>
                <a:spcPct val="12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61">
                <a:solidFill>
                  <a:srgbClr val="FFFFFF"/>
                </a:solidFill>
              </a:rPr>
              <a:t>1</a:t>
            </a:r>
            <a:endParaRPr sz="1807"/>
          </a:p>
        </p:txBody>
      </p:sp>
      <p:sp>
        <p:nvSpPr>
          <p:cNvPr id="111" name="Google Shape;111;p14"/>
          <p:cNvSpPr txBox="1"/>
          <p:nvPr/>
        </p:nvSpPr>
        <p:spPr>
          <a:xfrm>
            <a:off x="1067182" y="15866996"/>
            <a:ext cx="1167300" cy="7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8000" tIns="58975" rIns="118000" bIns="58975" anchor="ctr" anchorCtr="0">
            <a:noAutofit/>
          </a:bodyPr>
          <a:lstStyle/>
          <a:p>
            <a:pPr marL="0" marR="0" lvl="0" indent="0" algn="ctr" rtl="0">
              <a:lnSpc>
                <a:spcPct val="120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361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807"/>
          </a:p>
        </p:txBody>
      </p:sp>
      <p:sp>
        <p:nvSpPr>
          <p:cNvPr id="112" name="Google Shape;112;p14"/>
          <p:cNvSpPr txBox="1"/>
          <p:nvPr/>
        </p:nvSpPr>
        <p:spPr>
          <a:xfrm>
            <a:off x="23316750" y="0"/>
            <a:ext cx="10344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00" rIns="0" bIns="2200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2page </a:t>
            </a:r>
            <a:endParaRPr sz="2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24384002" cy="4025900"/>
          </a:xfrm>
          <a:prstGeom prst="rect">
            <a:avLst/>
          </a:prstGeom>
          <a:noFill/>
          <a:ln>
            <a:noFill/>
          </a:ln>
          <a:effectLst>
            <a:outerShdw blurRad="353871">
              <a:srgbClr val="000000">
                <a:alpha val="14120"/>
              </a:srgbClr>
            </a:outerShdw>
          </a:effectLst>
        </p:spPr>
      </p:pic>
      <p:sp>
        <p:nvSpPr>
          <p:cNvPr id="118" name="Google Shape;118;p15"/>
          <p:cNvSpPr txBox="1"/>
          <p:nvPr/>
        </p:nvSpPr>
        <p:spPr>
          <a:xfrm>
            <a:off x="10021249" y="984250"/>
            <a:ext cx="4887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75" rIns="0" bIns="38075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" sz="5999" b="1">
                <a:solidFill>
                  <a:srgbClr val="FFFFFF"/>
                </a:solidFill>
              </a:rPr>
              <a:t>요약</a:t>
            </a:r>
            <a:endParaRPr sz="5999" b="1" i="0" u="none" strike="noStrike" cap="none">
              <a:solidFill>
                <a:srgbClr val="FFFFFF"/>
              </a:solidFill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23349600" y="0"/>
            <a:ext cx="10344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00" rIns="0" bIns="2200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</a:rPr>
              <a:t>3page </a:t>
            </a:r>
            <a:endParaRPr sz="25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/>
          <p:nvPr/>
        </p:nvSpPr>
        <p:spPr>
          <a:xfrm>
            <a:off x="1150950" y="4514775"/>
            <a:ext cx="20073900" cy="19458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5"/>
          <p:cNvSpPr txBox="1"/>
          <p:nvPr/>
        </p:nvSpPr>
        <p:spPr>
          <a:xfrm>
            <a:off x="1574250" y="4556475"/>
            <a:ext cx="18975000" cy="19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75" rIns="0" bIns="38075" anchor="ctr" anchorCtr="0">
            <a:noAutofit/>
          </a:bodyPr>
          <a:lstStyle/>
          <a:p>
            <a:pPr marL="0" marR="0" lvl="0" indent="0" algn="ctr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" sz="4000" b="1">
                <a:solidFill>
                  <a:srgbClr val="FFFFFF"/>
                </a:solidFill>
              </a:rPr>
              <a:t>PPT 파일 하나로 강의 스크립트, 음성, 영상을 자동 생성하는 AI Agent</a:t>
            </a:r>
            <a:endParaRPr sz="4000" b="1" i="0" u="none" strike="noStrike" cap="none">
              <a:solidFill>
                <a:srgbClr val="FFFFFF"/>
              </a:solidFill>
            </a:endParaRPr>
          </a:p>
        </p:txBody>
      </p:sp>
      <p:sp>
        <p:nvSpPr>
          <p:cNvPr id="122" name="Google Shape;122;p15"/>
          <p:cNvSpPr/>
          <p:nvPr/>
        </p:nvSpPr>
        <p:spPr>
          <a:xfrm>
            <a:off x="1150950" y="7032875"/>
            <a:ext cx="5341500" cy="24201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1151000" y="7032875"/>
            <a:ext cx="5341500" cy="99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1150999" y="7184675"/>
            <a:ext cx="2362221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핵심 기술</a:t>
            </a:r>
            <a:endParaRPr sz="3200" b="1" dirty="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1270050" y="8024075"/>
            <a:ext cx="32943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LangGraph</a:t>
            </a:r>
            <a:endParaRPr sz="30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LLM Agent</a:t>
            </a:r>
            <a:endParaRPr sz="30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517088" y="7032849"/>
            <a:ext cx="5341500" cy="24201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5"/>
          <p:cNvSpPr/>
          <p:nvPr/>
        </p:nvSpPr>
        <p:spPr>
          <a:xfrm>
            <a:off x="8517138" y="7032857"/>
            <a:ext cx="5341500" cy="99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8636213" y="7131671"/>
            <a:ext cx="3154734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주요 모델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5"/>
          <p:cNvSpPr txBox="1"/>
          <p:nvPr/>
        </p:nvSpPr>
        <p:spPr>
          <a:xfrm>
            <a:off x="8636213" y="8017071"/>
            <a:ext cx="32943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GPT-4o-mini</a:t>
            </a:r>
            <a:endParaRPr sz="30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TTS / Tavily</a:t>
            </a:r>
            <a:endParaRPr sz="30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5"/>
          <p:cNvSpPr/>
          <p:nvPr/>
        </p:nvSpPr>
        <p:spPr>
          <a:xfrm>
            <a:off x="15883175" y="7032849"/>
            <a:ext cx="5341500" cy="24201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5"/>
          <p:cNvSpPr/>
          <p:nvPr/>
        </p:nvSpPr>
        <p:spPr>
          <a:xfrm>
            <a:off x="15883225" y="7032856"/>
            <a:ext cx="5341500" cy="9912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5"/>
          <p:cNvSpPr txBox="1"/>
          <p:nvPr/>
        </p:nvSpPr>
        <p:spPr>
          <a:xfrm>
            <a:off x="16007625" y="7131663"/>
            <a:ext cx="2745600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최종 산출물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5"/>
          <p:cNvSpPr txBox="1"/>
          <p:nvPr/>
        </p:nvSpPr>
        <p:spPr>
          <a:xfrm>
            <a:off x="16002375" y="8017071"/>
            <a:ext cx="3294300" cy="135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강의 영상 mp4</a:t>
            </a:r>
            <a:br>
              <a:rPr lang="en" sz="30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30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퀴즈 자동 생성</a:t>
            </a:r>
            <a:endParaRPr sz="30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1150950" y="10041919"/>
            <a:ext cx="3757934" cy="8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파이프라인 흐름</a:t>
            </a:r>
            <a:endParaRPr sz="32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/>
          <p:nvPr/>
        </p:nvSpPr>
        <p:spPr>
          <a:xfrm>
            <a:off x="1150988" y="10902164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142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5"/>
          <p:cNvSpPr txBox="1"/>
          <p:nvPr/>
        </p:nvSpPr>
        <p:spPr>
          <a:xfrm>
            <a:off x="1150988" y="10829973"/>
            <a:ext cx="20817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142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63" dirty="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3" dirty="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ppt 업로드</a:t>
            </a:r>
            <a:endParaRPr sz="2463" dirty="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5"/>
          <p:cNvSpPr/>
          <p:nvPr/>
        </p:nvSpPr>
        <p:spPr>
          <a:xfrm>
            <a:off x="3730524" y="10902164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142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3574111" y="10842005"/>
            <a:ext cx="2461125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142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63" dirty="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3" dirty="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슬라이드 파싱</a:t>
            </a:r>
            <a:endParaRPr sz="2463" dirty="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5"/>
          <p:cNvSpPr/>
          <p:nvPr/>
        </p:nvSpPr>
        <p:spPr>
          <a:xfrm>
            <a:off x="6310060" y="10902164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142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5"/>
          <p:cNvSpPr txBox="1"/>
          <p:nvPr/>
        </p:nvSpPr>
        <p:spPr>
          <a:xfrm>
            <a:off x="6310060" y="10859343"/>
            <a:ext cx="20817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142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463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웹 검색</a:t>
            </a:r>
            <a:endParaRPr sz="2463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5"/>
          <p:cNvSpPr/>
          <p:nvPr/>
        </p:nvSpPr>
        <p:spPr>
          <a:xfrm>
            <a:off x="3339162" y="11470804"/>
            <a:ext cx="302700" cy="2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142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5909779" y="11459973"/>
            <a:ext cx="302700" cy="2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142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3" name="Google Shape;1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5412" y="4197094"/>
            <a:ext cx="1831500" cy="9341908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/>
          <p:nvPr/>
        </p:nvSpPr>
        <p:spPr>
          <a:xfrm>
            <a:off x="8793351" y="10902164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 txBox="1"/>
          <p:nvPr/>
        </p:nvSpPr>
        <p:spPr>
          <a:xfrm>
            <a:off x="8828924" y="10842005"/>
            <a:ext cx="20817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007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내용 생성</a:t>
            </a:r>
            <a:endParaRPr sz="2463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/>
          <p:nvPr/>
        </p:nvSpPr>
        <p:spPr>
          <a:xfrm>
            <a:off x="11301741" y="10902164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11301741" y="10842005"/>
            <a:ext cx="20817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007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스크립트</a:t>
            </a:r>
            <a:endParaRPr sz="2463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/>
          <p:nvPr/>
        </p:nvSpPr>
        <p:spPr>
          <a:xfrm>
            <a:off x="13881278" y="10902164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5"/>
          <p:cNvSpPr txBox="1"/>
          <p:nvPr/>
        </p:nvSpPr>
        <p:spPr>
          <a:xfrm>
            <a:off x="13881278" y="10859343"/>
            <a:ext cx="20817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007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TTS</a:t>
            </a:r>
            <a:endParaRPr sz="2463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5"/>
          <p:cNvSpPr/>
          <p:nvPr/>
        </p:nvSpPr>
        <p:spPr>
          <a:xfrm>
            <a:off x="10910380" y="11470804"/>
            <a:ext cx="302700" cy="2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5"/>
          <p:cNvSpPr/>
          <p:nvPr/>
        </p:nvSpPr>
        <p:spPr>
          <a:xfrm>
            <a:off x="13480997" y="11459973"/>
            <a:ext cx="302700" cy="2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8427866" y="11442635"/>
            <a:ext cx="302700" cy="2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/>
          <p:nvPr/>
        </p:nvSpPr>
        <p:spPr>
          <a:xfrm>
            <a:off x="16481709" y="10913941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5"/>
          <p:cNvSpPr txBox="1"/>
          <p:nvPr/>
        </p:nvSpPr>
        <p:spPr>
          <a:xfrm>
            <a:off x="16481709" y="10853782"/>
            <a:ext cx="20817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007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영상 합성</a:t>
            </a:r>
            <a:endParaRPr sz="2463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5"/>
          <p:cNvSpPr/>
          <p:nvPr/>
        </p:nvSpPr>
        <p:spPr>
          <a:xfrm>
            <a:off x="19143010" y="10913941"/>
            <a:ext cx="2081700" cy="1150500"/>
          </a:xfrm>
          <a:prstGeom prst="rect">
            <a:avLst/>
          </a:prstGeom>
          <a:solidFill>
            <a:srgbClr val="888888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5"/>
          <p:cNvSpPr txBox="1"/>
          <p:nvPr/>
        </p:nvSpPr>
        <p:spPr>
          <a:xfrm>
            <a:off x="19143010" y="10871120"/>
            <a:ext cx="2081700" cy="11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75" tIns="90075" rIns="90075" bIns="900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463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퀴즈 생성</a:t>
            </a:r>
            <a:endParaRPr sz="2463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18742730" y="11471750"/>
            <a:ext cx="302700" cy="2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16060598" y="11472423"/>
            <a:ext cx="302700" cy="208200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37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0075" tIns="90075" rIns="90075" bIns="900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79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 txBox="1"/>
          <p:nvPr/>
        </p:nvSpPr>
        <p:spPr>
          <a:xfrm>
            <a:off x="1150950" y="12178525"/>
            <a:ext cx="121407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*Gradio 웹 앱으로 사용자 인터페이스 제공, 사용자 피드백 기반 스크립트 수정 기능 포함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7825" y="-161650"/>
            <a:ext cx="6177925" cy="1410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16"/>
          <p:cNvSpPr txBox="1"/>
          <p:nvPr/>
        </p:nvSpPr>
        <p:spPr>
          <a:xfrm>
            <a:off x="896574" y="1727200"/>
            <a:ext cx="4887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75" rIns="0" bIns="38075" anchor="ctr" anchorCtr="0">
            <a:noAutofit/>
          </a:bodyPr>
          <a:lstStyle/>
          <a:p>
            <a:pPr marL="0" marR="0" lvl="0" indent="0" algn="l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" sz="5999" b="1">
                <a:solidFill>
                  <a:srgbClr val="FFFFFF"/>
                </a:solidFill>
              </a:rPr>
              <a:t>문제상황</a:t>
            </a:r>
            <a:endParaRPr sz="5999" b="1" i="0" u="none" strike="noStrike" cap="none">
              <a:solidFill>
                <a:srgbClr val="FFFFFF"/>
              </a:solidFill>
            </a:endParaRPr>
          </a:p>
        </p:txBody>
      </p:sp>
      <p:sp>
        <p:nvSpPr>
          <p:cNvPr id="166" name="Google Shape;166;p16"/>
          <p:cNvSpPr txBox="1"/>
          <p:nvPr/>
        </p:nvSpPr>
        <p:spPr>
          <a:xfrm>
            <a:off x="23349600" y="0"/>
            <a:ext cx="10344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00" rIns="0" bIns="2200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4page 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16"/>
          <p:cNvSpPr/>
          <p:nvPr/>
        </p:nvSpPr>
        <p:spPr>
          <a:xfrm>
            <a:off x="6403754" y="1543230"/>
            <a:ext cx="7954800" cy="49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6"/>
          <p:cNvSpPr txBox="1"/>
          <p:nvPr/>
        </p:nvSpPr>
        <p:spPr>
          <a:xfrm>
            <a:off x="6698354" y="1552830"/>
            <a:ext cx="7660200" cy="49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69" name="Google Shape;169;p16"/>
          <p:cNvSpPr/>
          <p:nvPr/>
        </p:nvSpPr>
        <p:spPr>
          <a:xfrm>
            <a:off x="6383325" y="1543150"/>
            <a:ext cx="294600" cy="49191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5182329" y="1538430"/>
            <a:ext cx="7954800" cy="49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6"/>
          <p:cNvSpPr txBox="1"/>
          <p:nvPr/>
        </p:nvSpPr>
        <p:spPr>
          <a:xfrm>
            <a:off x="15476929" y="1548030"/>
            <a:ext cx="7660200" cy="49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72" name="Google Shape;172;p16"/>
          <p:cNvSpPr/>
          <p:nvPr/>
        </p:nvSpPr>
        <p:spPr>
          <a:xfrm>
            <a:off x="15182329" y="1552830"/>
            <a:ext cx="294600" cy="49599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/>
          <p:nvPr/>
        </p:nvSpPr>
        <p:spPr>
          <a:xfrm>
            <a:off x="6403754" y="7398705"/>
            <a:ext cx="7954800" cy="49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6"/>
          <p:cNvSpPr/>
          <p:nvPr/>
        </p:nvSpPr>
        <p:spPr>
          <a:xfrm>
            <a:off x="15182329" y="7393905"/>
            <a:ext cx="7954800" cy="4959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6"/>
          <p:cNvSpPr txBox="1"/>
          <p:nvPr/>
        </p:nvSpPr>
        <p:spPr>
          <a:xfrm>
            <a:off x="15476929" y="7403505"/>
            <a:ext cx="7660200" cy="49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76" name="Google Shape;176;p16"/>
          <p:cNvSpPr/>
          <p:nvPr/>
        </p:nvSpPr>
        <p:spPr>
          <a:xfrm>
            <a:off x="15182329" y="7408305"/>
            <a:ext cx="294600" cy="49599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6383325" y="7408300"/>
            <a:ext cx="294600" cy="4919100"/>
          </a:xfrm>
          <a:prstGeom prst="rect">
            <a:avLst/>
          </a:prstGeom>
          <a:solidFill>
            <a:srgbClr val="888888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6698354" y="7408305"/>
            <a:ext cx="7660200" cy="49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4000">
              <a:solidFill>
                <a:schemeClr val="dk1"/>
              </a:solidFill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6957700" y="2054875"/>
            <a:ext cx="68469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🕛시간 비용</a:t>
            </a:r>
            <a:endParaRPr sz="6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강사가 직접 ppt를 기반으로 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강의 스크립트를 작성하고 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녹음 및 편집까지 완료하는 데 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dk1"/>
                </a:solidFill>
              </a:rPr>
              <a:t>많은 시간과 노력이 필요</a:t>
            </a: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80" name="Google Shape;180;p16"/>
          <p:cNvSpPr txBox="1"/>
          <p:nvPr/>
        </p:nvSpPr>
        <p:spPr>
          <a:xfrm>
            <a:off x="15896925" y="2054875"/>
            <a:ext cx="65256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🗒️반복 수작업</a:t>
            </a:r>
            <a:endParaRPr sz="6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슬라이드가 수정될 때마다 스크립트, 오디오, 영상을 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처음부터 다시 제작해야 하는 </a:t>
            </a:r>
            <a:r>
              <a:rPr lang="en" sz="4000" u="sng">
                <a:solidFill>
                  <a:schemeClr val="dk1"/>
                </a:solidFill>
              </a:rPr>
              <a:t>비효율적인 수작업</a:t>
            </a:r>
            <a:endParaRPr sz="4000" u="sng">
              <a:solidFill>
                <a:schemeClr val="dk1"/>
              </a:solidFill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698350" y="8010525"/>
            <a:ext cx="7660200" cy="395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🔎콘텐츠 품질 편차</a:t>
            </a:r>
            <a:endParaRPr sz="6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강사마다 설명, 깊이, 스타일이 달라 강의 </a:t>
            </a:r>
            <a:r>
              <a:rPr lang="en" sz="4000" u="sng">
                <a:solidFill>
                  <a:schemeClr val="dk1"/>
                </a:solidFill>
              </a:rPr>
              <a:t>품질이 일정하지 않으며</a:t>
            </a:r>
            <a:r>
              <a:rPr lang="en" sz="4000">
                <a:solidFill>
                  <a:schemeClr val="dk1"/>
                </a:solidFill>
              </a:rPr>
              <a:t> 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최신 정보 보완을 위한 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u="sng">
                <a:solidFill>
                  <a:schemeClr val="dk1"/>
                </a:solidFill>
              </a:rPr>
              <a:t>추가 조사</a:t>
            </a:r>
            <a:r>
              <a:rPr lang="en" sz="4000">
                <a:solidFill>
                  <a:schemeClr val="dk1"/>
                </a:solidFill>
              </a:rPr>
              <a:t>도 필요</a:t>
            </a:r>
            <a:endParaRPr sz="4000">
              <a:solidFill>
                <a:schemeClr val="dk1"/>
              </a:solidFill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15911025" y="8109900"/>
            <a:ext cx="6792000" cy="334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>
                <a:solidFill>
                  <a:schemeClr val="dk1"/>
                </a:solidFill>
              </a:rPr>
              <a:t>📖학습자 참여 부족</a:t>
            </a:r>
            <a:endParaRPr sz="6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단방향 영상 강의로는 </a:t>
            </a:r>
            <a:endParaRPr sz="4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>
                <a:solidFill>
                  <a:schemeClr val="dk1"/>
                </a:solidFill>
              </a:rPr>
              <a:t>학습자 </a:t>
            </a:r>
            <a:r>
              <a:rPr lang="en" sz="4000" u="sng">
                <a:solidFill>
                  <a:schemeClr val="dk1"/>
                </a:solidFill>
              </a:rPr>
              <a:t>이해도 확인이 어렵고</a:t>
            </a:r>
            <a:r>
              <a:rPr lang="en" sz="4000">
                <a:solidFill>
                  <a:schemeClr val="dk1"/>
                </a:solidFill>
              </a:rPr>
              <a:t> 즉각적인 </a:t>
            </a:r>
            <a:r>
              <a:rPr lang="en" sz="4000" u="sng">
                <a:solidFill>
                  <a:schemeClr val="dk1"/>
                </a:solidFill>
              </a:rPr>
              <a:t>피드백 제공도 불가</a:t>
            </a:r>
            <a:endParaRPr sz="40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7"/>
          <p:cNvSpPr/>
          <p:nvPr/>
        </p:nvSpPr>
        <p:spPr>
          <a:xfrm>
            <a:off x="6632750" y="2087600"/>
            <a:ext cx="16380000" cy="9609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8" name="Google Shape;188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7825" y="-161650"/>
            <a:ext cx="6177925" cy="14108549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7"/>
          <p:cNvSpPr txBox="1"/>
          <p:nvPr/>
        </p:nvSpPr>
        <p:spPr>
          <a:xfrm>
            <a:off x="896574" y="1727200"/>
            <a:ext cx="4887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75" rIns="0" bIns="38075" anchor="ctr" anchorCtr="0">
            <a:noAutofit/>
          </a:bodyPr>
          <a:lstStyle/>
          <a:p>
            <a:pPr marL="0" marR="0" lvl="0" indent="0" algn="l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" sz="5999" b="1">
                <a:solidFill>
                  <a:srgbClr val="FFFFFF"/>
                </a:solidFill>
              </a:rPr>
              <a:t>해결 방법</a:t>
            </a:r>
            <a:endParaRPr sz="5999" b="1" i="0" u="none" strike="noStrike" cap="none">
              <a:solidFill>
                <a:srgbClr val="FFFFFF"/>
              </a:solidFill>
            </a:endParaRPr>
          </a:p>
        </p:txBody>
      </p:sp>
      <p:sp>
        <p:nvSpPr>
          <p:cNvPr id="190" name="Google Shape;190;p17"/>
          <p:cNvSpPr txBox="1"/>
          <p:nvPr/>
        </p:nvSpPr>
        <p:spPr>
          <a:xfrm>
            <a:off x="23349600" y="0"/>
            <a:ext cx="10344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00" rIns="0" bIns="2200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5page 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7"/>
          <p:cNvSpPr txBox="1"/>
          <p:nvPr/>
        </p:nvSpPr>
        <p:spPr>
          <a:xfrm>
            <a:off x="6739550" y="2193350"/>
            <a:ext cx="14508218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LangGraph StateGraph 기반 멀티노드 AI Agent 파이프라인</a:t>
            </a:r>
            <a:endParaRPr sz="44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7"/>
          <p:cNvSpPr/>
          <p:nvPr/>
        </p:nvSpPr>
        <p:spPr>
          <a:xfrm>
            <a:off x="6632750" y="4141438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7"/>
          <p:cNvSpPr txBox="1"/>
          <p:nvPr/>
        </p:nvSpPr>
        <p:spPr>
          <a:xfrm>
            <a:off x="6632750" y="4185857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PPT 파싱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node_parse_all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텍스트, 표, 이미지, 슬라이드 스냅샷 추출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8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7"/>
          <p:cNvSpPr/>
          <p:nvPr/>
        </p:nvSpPr>
        <p:spPr>
          <a:xfrm>
            <a:off x="10898550" y="4141450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7"/>
          <p:cNvSpPr txBox="1"/>
          <p:nvPr/>
        </p:nvSpPr>
        <p:spPr>
          <a:xfrm>
            <a:off x="10898550" y="4185869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Vector DB</a:t>
            </a:r>
            <a:endParaRPr sz="29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node_build_vector_db</a:t>
            </a:r>
            <a:endParaRPr sz="29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ChromaDB 임베딩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퀴즈 오답 생성용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7"/>
          <p:cNvSpPr/>
          <p:nvPr/>
        </p:nvSpPr>
        <p:spPr>
          <a:xfrm>
            <a:off x="15164350" y="4152550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7"/>
          <p:cNvSpPr txBox="1"/>
          <p:nvPr/>
        </p:nvSpPr>
        <p:spPr>
          <a:xfrm>
            <a:off x="15164350" y="4196969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Tavily 검색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node_tool_search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슬라이드 제목 기반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최신 정보 수집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/>
          <p:nvPr/>
        </p:nvSpPr>
        <p:spPr>
          <a:xfrm>
            <a:off x="19372125" y="4174763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7"/>
          <p:cNvSpPr txBox="1"/>
          <p:nvPr/>
        </p:nvSpPr>
        <p:spPr>
          <a:xfrm>
            <a:off x="19372125" y="4119257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내용 생성</a:t>
            </a:r>
            <a:b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node_generate_page</a:t>
            </a:r>
            <a:b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" sz="25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멀티모달 LLM으로</a:t>
            </a:r>
            <a:b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슬라이드 요약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7"/>
          <p:cNvSpPr/>
          <p:nvPr/>
        </p:nvSpPr>
        <p:spPr>
          <a:xfrm>
            <a:off x="6632750" y="7873000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7"/>
          <p:cNvSpPr txBox="1"/>
          <p:nvPr/>
        </p:nvSpPr>
        <p:spPr>
          <a:xfrm>
            <a:off x="6632750" y="7917419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스크립트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node_generate_script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60~90초 분량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구어체 대본 작성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7"/>
          <p:cNvSpPr/>
          <p:nvPr/>
        </p:nvSpPr>
        <p:spPr>
          <a:xfrm>
            <a:off x="10898550" y="7873013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7"/>
          <p:cNvSpPr txBox="1"/>
          <p:nvPr/>
        </p:nvSpPr>
        <p:spPr>
          <a:xfrm>
            <a:off x="10898550" y="7917432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TTS 변환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node_tts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gpt-4o-mini-tts</a:t>
            </a:r>
            <a:b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음성 파일 생성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7"/>
          <p:cNvSpPr/>
          <p:nvPr/>
        </p:nvSpPr>
        <p:spPr>
          <a:xfrm>
            <a:off x="15164350" y="7884113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19372125" y="7906325"/>
            <a:ext cx="3681900" cy="2947500"/>
          </a:xfrm>
          <a:prstGeom prst="rect">
            <a:avLst/>
          </a:prstGeom>
          <a:solidFill>
            <a:srgbClr val="888888"/>
          </a:solidFill>
          <a:ln w="60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885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7"/>
          <p:cNvSpPr txBox="1"/>
          <p:nvPr/>
        </p:nvSpPr>
        <p:spPr>
          <a:xfrm>
            <a:off x="19372125" y="7950744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최종 영상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node_concat_videos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전체 슬라이드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영상 병합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7"/>
          <p:cNvSpPr txBox="1"/>
          <p:nvPr/>
        </p:nvSpPr>
        <p:spPr>
          <a:xfrm>
            <a:off x="15164350" y="7895219"/>
            <a:ext cx="3681900" cy="294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7800" tIns="58675" rIns="57800" bIns="578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영상 합성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node_make_video</a:t>
            </a:r>
            <a:endParaRPr sz="3000" b="1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슬라이드 이미지 + 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rgbClr val="FBFBFB"/>
                </a:solidFill>
                <a:latin typeface="Calibri"/>
                <a:ea typeface="Calibri"/>
                <a:cs typeface="Calibri"/>
                <a:sym typeface="Calibri"/>
              </a:rPr>
              <a:t>오디오 -&gt; MP4</a:t>
            </a:r>
            <a:endParaRPr sz="2500">
              <a:solidFill>
                <a:srgbClr val="FBFBF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8"/>
          <p:cNvSpPr txBox="1"/>
          <p:nvPr/>
        </p:nvSpPr>
        <p:spPr>
          <a:xfrm>
            <a:off x="7257425" y="7500800"/>
            <a:ext cx="2197200" cy="43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0475" rIns="0" bIns="30475" anchor="ctr" anchorCtr="0">
            <a:noAutofit/>
          </a:bodyPr>
          <a:lstStyle/>
          <a:p>
            <a:pPr marL="0" marR="0" lvl="0" indent="0" algn="ctr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" sz="24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결과</a:t>
            </a:r>
            <a:endParaRPr sz="24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18"/>
          <p:cNvSpPr txBox="1"/>
          <p:nvPr/>
        </p:nvSpPr>
        <p:spPr>
          <a:xfrm>
            <a:off x="6510825" y="1201275"/>
            <a:ext cx="16967400" cy="120678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AutoNum type="arabicPeriod"/>
            </a:pPr>
            <a:r>
              <a:rPr lang="en" sz="3600" b="1" dirty="0">
                <a:solidFill>
                  <a:srgbClr val="4D4D4D"/>
                </a:solidFill>
              </a:rPr>
              <a:t>사용자 피드백 기반 스크립트 수정</a:t>
            </a:r>
            <a:endParaRPr sz="3600" b="1" dirty="0">
              <a:solidFill>
                <a:srgbClr val="4D4D4D"/>
              </a:solidFill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Char char="-"/>
            </a:pPr>
            <a:r>
              <a:rPr lang="en" sz="3600" dirty="0">
                <a:solidFill>
                  <a:srgbClr val="4D4D4D"/>
                </a:solidFill>
              </a:rPr>
              <a:t>AI가 생성한 대본을 사용자가 직접 수정하고 </a:t>
            </a:r>
            <a:endParaRPr sz="3600" dirty="0">
              <a:solidFill>
                <a:srgbClr val="4D4D4D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4D4D4D"/>
                </a:solidFill>
              </a:rPr>
              <a:t>다시 반영할 수 있는 구조 도입</a:t>
            </a:r>
            <a:endParaRPr sz="3600" dirty="0">
              <a:solidFill>
                <a:srgbClr val="4D4D4D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rgbClr val="4D4D4D"/>
              </a:solidFill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</a:pPr>
            <a:r>
              <a:rPr lang="en" sz="3600" b="1" dirty="0">
                <a:solidFill>
                  <a:srgbClr val="4D4D4D"/>
                </a:solidFill>
              </a:rPr>
              <a:t>2. 강조 표시(Highlighting)가 들어간 자동 자막(Subtitles) 합성</a:t>
            </a:r>
            <a:endParaRPr sz="3600" b="1" dirty="0">
              <a:solidFill>
                <a:srgbClr val="4D4D4D"/>
              </a:solidFill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Char char="-"/>
            </a:pPr>
            <a:r>
              <a:rPr lang="en" sz="3600" dirty="0">
                <a:solidFill>
                  <a:srgbClr val="4D4D4D"/>
                </a:solidFill>
              </a:rPr>
              <a:t>스크립트를 TTS로 변환할 때, 문장 단위의 타임 스탬프를 </a:t>
            </a:r>
            <a:endParaRPr sz="3600" dirty="0">
              <a:solidFill>
                <a:srgbClr val="4D4D4D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4D4D4D"/>
                </a:solidFill>
              </a:rPr>
              <a:t>추출하여 파일로 만들고 FFmpeg를 통해 영상 하단에 자막 추가</a:t>
            </a:r>
            <a:endParaRPr sz="3600" dirty="0">
              <a:solidFill>
                <a:srgbClr val="4D4D4D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4D4D4D"/>
              </a:solidFill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</a:pPr>
            <a:r>
              <a:rPr lang="en" sz="3600" b="1" dirty="0">
                <a:solidFill>
                  <a:srgbClr val="4D4D4D"/>
                </a:solidFill>
              </a:rPr>
              <a:t>3. 맥락 기반 자동 퀴즈 생성기</a:t>
            </a:r>
            <a:endParaRPr sz="3600" b="1" dirty="0">
              <a:solidFill>
                <a:srgbClr val="4D4D4D"/>
              </a:solidFill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Char char="-"/>
            </a:pPr>
            <a:r>
              <a:rPr lang="en" sz="3600" dirty="0">
                <a:solidFill>
                  <a:srgbClr val="4D4D4D"/>
                </a:solidFill>
              </a:rPr>
              <a:t>LLM을 통해 vectorDB에 저장된 해당 단원의 </a:t>
            </a:r>
            <a:endParaRPr sz="3600" dirty="0">
              <a:solidFill>
                <a:srgbClr val="4D4D4D"/>
              </a:solidFill>
            </a:endParaRPr>
          </a:p>
          <a:p>
            <a:pPr marL="45720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4D4D4D"/>
                </a:solidFill>
              </a:rPr>
              <a:t>핵심 개념을 이용해 객관식 퀴즈를 생성</a:t>
            </a:r>
            <a:endParaRPr sz="3600" dirty="0">
              <a:solidFill>
                <a:srgbClr val="4D4D4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rgbClr val="4D4D4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dirty="0">
              <a:solidFill>
                <a:srgbClr val="4D4D4D"/>
              </a:solidFill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</a:pPr>
            <a:r>
              <a:rPr lang="en" sz="3600" b="1" dirty="0">
                <a:solidFill>
                  <a:srgbClr val="4D4D4D"/>
                </a:solidFill>
              </a:rPr>
              <a:t>4. 핵심 단어 하이라이트</a:t>
            </a:r>
            <a:endParaRPr sz="3600" b="1" dirty="0">
              <a:solidFill>
                <a:srgbClr val="4D4D4D"/>
              </a:solidFill>
            </a:endParaRPr>
          </a:p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Char char="-"/>
            </a:pPr>
            <a:r>
              <a:rPr lang="en" sz="3600" dirty="0">
                <a:solidFill>
                  <a:srgbClr val="4D4D4D"/>
                </a:solidFill>
              </a:rPr>
              <a:t>스크립트에서 중요 키워드를 추출하여 화면에 출력</a:t>
            </a:r>
            <a:endParaRPr sz="3600" dirty="0">
              <a:solidFill>
                <a:srgbClr val="4D4D4D"/>
              </a:solidFill>
            </a:endParaRPr>
          </a:p>
        </p:txBody>
      </p:sp>
      <p:pic>
        <p:nvPicPr>
          <p:cNvPr id="214" name="Google Shape;214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7825" y="-161650"/>
            <a:ext cx="6177925" cy="14108549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18"/>
          <p:cNvSpPr txBox="1"/>
          <p:nvPr/>
        </p:nvSpPr>
        <p:spPr>
          <a:xfrm>
            <a:off x="896574" y="1727200"/>
            <a:ext cx="4887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75" rIns="0" bIns="38075" anchor="ctr" anchorCtr="0">
            <a:noAutofit/>
          </a:bodyPr>
          <a:lstStyle/>
          <a:p>
            <a:pPr marL="0" marR="0" lvl="0" indent="0" algn="l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" sz="5999" b="1">
                <a:solidFill>
                  <a:srgbClr val="FFFFFF"/>
                </a:solidFill>
              </a:rPr>
              <a:t>개선 내용</a:t>
            </a:r>
            <a:endParaRPr sz="5999" b="1" i="0" u="none" strike="noStrike" cap="none">
              <a:solidFill>
                <a:srgbClr val="FFFFFF"/>
              </a:solidFill>
            </a:endParaRPr>
          </a:p>
        </p:txBody>
      </p:sp>
      <p:pic>
        <p:nvPicPr>
          <p:cNvPr id="216" name="Google Shape;216;p18"/>
          <p:cNvPicPr preferRelativeResize="0"/>
          <p:nvPr/>
        </p:nvPicPr>
        <p:blipFill rotWithShape="1">
          <a:blip r:embed="rId4">
            <a:alphaModFix/>
          </a:blip>
          <a:srcRect l="35351" t="32093" r="38154"/>
          <a:stretch/>
        </p:blipFill>
        <p:spPr>
          <a:xfrm>
            <a:off x="18506516" y="1370412"/>
            <a:ext cx="5476977" cy="22139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17" name="Google Shape;21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06521" y="7372425"/>
            <a:ext cx="5476974" cy="315655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8" name="Google Shape;218;p18"/>
          <p:cNvPicPr preferRelativeResize="0"/>
          <p:nvPr/>
        </p:nvPicPr>
        <p:blipFill rotWithShape="1">
          <a:blip r:embed="rId6">
            <a:alphaModFix/>
          </a:blip>
          <a:srcRect l="20966" t="86935" r="20680" b="2533"/>
          <a:stretch/>
        </p:blipFill>
        <p:spPr>
          <a:xfrm>
            <a:off x="18530585" y="5407556"/>
            <a:ext cx="5476974" cy="728300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19" name="Google Shape;219;p18"/>
          <p:cNvPicPr preferRelativeResize="0"/>
          <p:nvPr/>
        </p:nvPicPr>
        <p:blipFill rotWithShape="1">
          <a:blip r:embed="rId7">
            <a:alphaModFix/>
          </a:blip>
          <a:srcRect l="30015" t="26282" r="29348" b="35289"/>
          <a:stretch/>
        </p:blipFill>
        <p:spPr>
          <a:xfrm>
            <a:off x="18506521" y="10975825"/>
            <a:ext cx="5476974" cy="2587275"/>
          </a:xfrm>
          <a:prstGeom prst="rect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220" name="Google Shape;220;p18"/>
          <p:cNvCxnSpPr/>
          <p:nvPr/>
        </p:nvCxnSpPr>
        <p:spPr>
          <a:xfrm>
            <a:off x="6324825" y="3978475"/>
            <a:ext cx="17805300" cy="28800"/>
          </a:xfrm>
          <a:prstGeom prst="straightConnector1">
            <a:avLst/>
          </a:prstGeom>
          <a:noFill/>
          <a:ln w="9525" cap="flat" cmpd="sng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1" name="Google Shape;221;p18"/>
          <p:cNvCxnSpPr/>
          <p:nvPr/>
        </p:nvCxnSpPr>
        <p:spPr>
          <a:xfrm>
            <a:off x="6324825" y="7187825"/>
            <a:ext cx="17779500" cy="0"/>
          </a:xfrm>
          <a:prstGeom prst="straightConnector1">
            <a:avLst/>
          </a:prstGeom>
          <a:noFill/>
          <a:ln w="9525" cap="flat" cmpd="sng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2" name="Google Shape;222;p18"/>
          <p:cNvCxnSpPr/>
          <p:nvPr/>
        </p:nvCxnSpPr>
        <p:spPr>
          <a:xfrm>
            <a:off x="6324825" y="10791250"/>
            <a:ext cx="17727900" cy="0"/>
          </a:xfrm>
          <a:prstGeom prst="straightConnector1">
            <a:avLst/>
          </a:prstGeom>
          <a:noFill/>
          <a:ln w="9525" cap="flat" cmpd="sng">
            <a:solidFill>
              <a:srgbClr val="4D4D4D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3" name="Google Shape;223;p18"/>
          <p:cNvSpPr txBox="1"/>
          <p:nvPr/>
        </p:nvSpPr>
        <p:spPr>
          <a:xfrm>
            <a:off x="23349600" y="19725"/>
            <a:ext cx="10344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00" rIns="0" bIns="2200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6page 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9"/>
          <p:cNvSpPr/>
          <p:nvPr/>
        </p:nvSpPr>
        <p:spPr>
          <a:xfrm>
            <a:off x="6580900" y="10358300"/>
            <a:ext cx="16519732" cy="2489400"/>
          </a:xfrm>
          <a:prstGeom prst="snip1Rect">
            <a:avLst>
              <a:gd name="adj" fmla="val 16667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9"/>
          <p:cNvSpPr/>
          <p:nvPr/>
        </p:nvSpPr>
        <p:spPr>
          <a:xfrm>
            <a:off x="6580900" y="7435350"/>
            <a:ext cx="16519732" cy="2489400"/>
          </a:xfrm>
          <a:prstGeom prst="snip1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9"/>
          <p:cNvSpPr/>
          <p:nvPr/>
        </p:nvSpPr>
        <p:spPr>
          <a:xfrm>
            <a:off x="6580900" y="3775150"/>
            <a:ext cx="16519732" cy="3312000"/>
          </a:xfrm>
          <a:prstGeom prst="snip1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9"/>
          <p:cNvSpPr/>
          <p:nvPr/>
        </p:nvSpPr>
        <p:spPr>
          <a:xfrm>
            <a:off x="6580900" y="868300"/>
            <a:ext cx="16519732" cy="2558650"/>
          </a:xfrm>
          <a:prstGeom prst="snip1Rect">
            <a:avLst>
              <a:gd name="adj" fmla="val 16667"/>
            </a:avLst>
          </a:prstGeom>
          <a:solidFill>
            <a:srgbClr val="D9D9D9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9"/>
          <p:cNvSpPr txBox="1"/>
          <p:nvPr/>
        </p:nvSpPr>
        <p:spPr>
          <a:xfrm>
            <a:off x="6703589" y="1027843"/>
            <a:ext cx="16902819" cy="92101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  <a:buAutoNum type="arabicPeriod"/>
            </a:pPr>
            <a:r>
              <a:rPr lang="en" sz="3600" b="1" dirty="0">
                <a:solidFill>
                  <a:srgbClr val="4D4D4D"/>
                </a:solidFill>
              </a:rPr>
              <a:t>생산성 혁신 및 비용 절감</a:t>
            </a:r>
            <a:endParaRPr sz="3600" b="1" dirty="0">
              <a:solidFill>
                <a:srgbClr val="4D4D4D"/>
              </a:solidFill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100"/>
              <a:buChar char="-"/>
            </a:pPr>
            <a:r>
              <a:rPr lang="en" sz="3100" dirty="0">
                <a:solidFill>
                  <a:srgbClr val="4D4D4D"/>
                </a:solidFill>
              </a:rPr>
              <a:t>기존에 수시간에서 수일이 소요되던 수작업 강의 영상 제작을 수분 내외로 </a:t>
            </a:r>
            <a:r>
              <a:rPr lang="en" sz="3100" b="1" dirty="0">
                <a:solidFill>
                  <a:srgbClr val="4D4D4D"/>
                </a:solidFill>
              </a:rPr>
              <a:t>단축</a:t>
            </a:r>
            <a:r>
              <a:rPr lang="en" sz="3100" dirty="0">
                <a:solidFill>
                  <a:srgbClr val="4D4D4D"/>
                </a:solidFill>
              </a:rPr>
              <a:t>함</a:t>
            </a:r>
            <a:endParaRPr sz="3100" dirty="0">
              <a:solidFill>
                <a:srgbClr val="4D4D4D"/>
              </a:solidFill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100"/>
              <a:buChar char="-"/>
            </a:pPr>
            <a:r>
              <a:rPr lang="en" sz="3100" dirty="0">
                <a:solidFill>
                  <a:srgbClr val="4D4D4D"/>
                </a:solidFill>
              </a:rPr>
              <a:t>전문 인력 없이도 고품질의 교육 콘텐츠 생산이 가능해짐에 따라 </a:t>
            </a:r>
            <a:r>
              <a:rPr lang="en" sz="3100" b="1" dirty="0">
                <a:solidFill>
                  <a:srgbClr val="4D4D4D"/>
                </a:solidFill>
              </a:rPr>
              <a:t>제작 비용 절감</a:t>
            </a:r>
            <a:r>
              <a:rPr lang="en" sz="3100" dirty="0">
                <a:solidFill>
                  <a:srgbClr val="4D4D4D"/>
                </a:solidFill>
              </a:rPr>
              <a:t>이 기대됨</a:t>
            </a:r>
            <a:endParaRPr sz="3100" dirty="0">
              <a:solidFill>
                <a:srgbClr val="4D4D4D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ko-KR" altLang="en-US" sz="3600" dirty="0">
              <a:solidFill>
                <a:srgbClr val="4D4D4D"/>
              </a:solidFill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</a:pPr>
            <a:r>
              <a:rPr lang="en" sz="3600" b="1" dirty="0">
                <a:solidFill>
                  <a:srgbClr val="4D4D4D"/>
                </a:solidFill>
              </a:rPr>
              <a:t>2. 콘텐츠 품질의 일관성 확보</a:t>
            </a:r>
            <a:endParaRPr sz="3600" b="1" dirty="0">
              <a:solidFill>
                <a:srgbClr val="4D4D4D"/>
              </a:solidFill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100"/>
              <a:buChar char="-"/>
            </a:pPr>
            <a:r>
              <a:rPr lang="en" sz="3100" dirty="0">
                <a:solidFill>
                  <a:srgbClr val="4D4D4D"/>
                </a:solidFill>
              </a:rPr>
              <a:t>LLM의 문맥 인지 로직을 통해 강사의 지식 수준이나 컨디션에 구애받지 않는 </a:t>
            </a:r>
            <a:endParaRPr sz="3100" dirty="0">
              <a:solidFill>
                <a:srgbClr val="4D4D4D"/>
              </a:solidFill>
            </a:endParaRPr>
          </a:p>
          <a:p>
            <a:pPr marL="0" lvl="0" indent="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b="1" dirty="0">
                <a:solidFill>
                  <a:srgbClr val="4D4D4D"/>
                </a:solidFill>
              </a:rPr>
              <a:t>표준화된 고품질 대본</a:t>
            </a:r>
            <a:r>
              <a:rPr lang="en" sz="3100" dirty="0">
                <a:solidFill>
                  <a:srgbClr val="4D4D4D"/>
                </a:solidFill>
              </a:rPr>
              <a:t> 생성 가능</a:t>
            </a:r>
            <a:endParaRPr sz="3100" dirty="0">
              <a:solidFill>
                <a:srgbClr val="4D4D4D"/>
              </a:solidFill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100"/>
              <a:buChar char="-"/>
            </a:pPr>
            <a:r>
              <a:rPr lang="en" sz="3100" dirty="0">
                <a:solidFill>
                  <a:srgbClr val="4D4D4D"/>
                </a:solidFill>
              </a:rPr>
              <a:t>슬라이드 간 유기적인 연결 멘트를 통해 학습자의 몰입도를 높이는 </a:t>
            </a:r>
            <a:r>
              <a:rPr lang="en" sz="3100" b="1" dirty="0">
                <a:solidFill>
                  <a:srgbClr val="4D4D4D"/>
                </a:solidFill>
              </a:rPr>
              <a:t>‘흐름이 있는 강의’</a:t>
            </a:r>
            <a:r>
              <a:rPr lang="en" sz="3100" dirty="0">
                <a:solidFill>
                  <a:srgbClr val="4D4D4D"/>
                </a:solidFill>
              </a:rPr>
              <a:t> 구현</a:t>
            </a:r>
            <a:endParaRPr sz="3100" dirty="0">
              <a:solidFill>
                <a:srgbClr val="4D4D4D"/>
              </a:solidFill>
            </a:endParaRPr>
          </a:p>
          <a:p>
            <a:pPr marL="9144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600" b="1" dirty="0">
              <a:solidFill>
                <a:srgbClr val="4D4D4D"/>
              </a:solidFill>
            </a:endParaRP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600"/>
            </a:pPr>
            <a:r>
              <a:rPr lang="en" sz="3600" b="1" dirty="0">
                <a:solidFill>
                  <a:srgbClr val="4D4D4D"/>
                </a:solidFill>
              </a:rPr>
              <a:t>3. 범용성 및 확장성</a:t>
            </a:r>
            <a:endParaRPr sz="3600" b="1" dirty="0">
              <a:solidFill>
                <a:srgbClr val="4D4D4D"/>
              </a:solidFill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100"/>
              <a:buChar char="-"/>
            </a:pPr>
            <a:r>
              <a:rPr lang="en" sz="3100" dirty="0">
                <a:solidFill>
                  <a:srgbClr val="4D4D4D"/>
                </a:solidFill>
              </a:rPr>
              <a:t>Gradio 기반의 UI를 통해 기술적 숙련도가 낮은 일반 사용자도 </a:t>
            </a:r>
            <a:r>
              <a:rPr lang="en" sz="3100" b="1" dirty="0">
                <a:solidFill>
                  <a:srgbClr val="4D4D4D"/>
                </a:solidFill>
              </a:rPr>
              <a:t>손쉽게 활용</a:t>
            </a:r>
            <a:r>
              <a:rPr lang="en" sz="3100" dirty="0">
                <a:solidFill>
                  <a:srgbClr val="4D4D4D"/>
                </a:solidFill>
              </a:rPr>
              <a:t> 가능</a:t>
            </a:r>
            <a:endParaRPr sz="3100" dirty="0">
              <a:solidFill>
                <a:srgbClr val="4D4D4D"/>
              </a:solidFill>
            </a:endParaRPr>
          </a:p>
          <a:p>
            <a:pPr marL="457200" lvl="0" indent="-425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4D4D4D"/>
              </a:buClr>
              <a:buSzPts val="3100"/>
              <a:buChar char="-"/>
            </a:pPr>
            <a:r>
              <a:rPr lang="en" sz="3100" dirty="0">
                <a:solidFill>
                  <a:srgbClr val="4D4D4D"/>
                </a:solidFill>
              </a:rPr>
              <a:t>사내 교육, 제품 메뉴얼 가이드, 대학 강의 보조 자료 등 </a:t>
            </a:r>
            <a:r>
              <a:rPr lang="en" sz="3100" b="1" dirty="0">
                <a:solidFill>
                  <a:srgbClr val="4D4D4D"/>
                </a:solidFill>
              </a:rPr>
              <a:t>다양한 분야로 즉시 적용</a:t>
            </a:r>
            <a:r>
              <a:rPr lang="en" sz="3100" dirty="0">
                <a:solidFill>
                  <a:srgbClr val="4D4D4D"/>
                </a:solidFill>
              </a:rPr>
              <a:t> 가능</a:t>
            </a:r>
            <a:endParaRPr sz="3100" dirty="0">
              <a:solidFill>
                <a:srgbClr val="4D4D4D"/>
              </a:solidFill>
            </a:endParaRPr>
          </a:p>
        </p:txBody>
      </p:sp>
      <p:pic>
        <p:nvPicPr>
          <p:cNvPr id="233" name="Google Shape;233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207825" y="-161650"/>
            <a:ext cx="6177925" cy="1410854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9"/>
          <p:cNvSpPr txBox="1"/>
          <p:nvPr/>
        </p:nvSpPr>
        <p:spPr>
          <a:xfrm>
            <a:off x="896574" y="1727200"/>
            <a:ext cx="4887600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8075" rIns="0" bIns="38075" anchor="ctr" anchorCtr="0">
            <a:noAutofit/>
          </a:bodyPr>
          <a:lstStyle/>
          <a:p>
            <a:pPr marL="0" marR="0" lvl="0" indent="0" algn="l" rtl="0">
              <a:lnSpc>
                <a:spcPct val="1078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999"/>
              <a:buFont typeface="Arial"/>
              <a:buNone/>
            </a:pPr>
            <a:r>
              <a:rPr lang="en" sz="5999" b="1">
                <a:solidFill>
                  <a:srgbClr val="FFFFFF"/>
                </a:solidFill>
              </a:rPr>
              <a:t>결과 및 확장</a:t>
            </a:r>
            <a:endParaRPr sz="5999" b="1" i="0" u="none" strike="noStrike" cap="none">
              <a:solidFill>
                <a:srgbClr val="FFFFFF"/>
              </a:solidFill>
            </a:endParaRPr>
          </a:p>
        </p:txBody>
      </p:sp>
      <p:sp>
        <p:nvSpPr>
          <p:cNvPr id="235" name="Google Shape;235;p19"/>
          <p:cNvSpPr txBox="1"/>
          <p:nvPr/>
        </p:nvSpPr>
        <p:spPr>
          <a:xfrm>
            <a:off x="23403100" y="0"/>
            <a:ext cx="1034400" cy="74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22000" rIns="0" bIns="22000" anchor="ctr" anchorCtr="0">
            <a:noAutofit/>
          </a:bodyPr>
          <a:lstStyle/>
          <a:p>
            <a:pPr marL="0" marR="0" lvl="0" indent="0" algn="l" rtl="0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</a:rPr>
              <a:t>7page </a:t>
            </a:r>
            <a:endParaRPr sz="25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9"/>
          <p:cNvSpPr txBox="1"/>
          <p:nvPr/>
        </p:nvSpPr>
        <p:spPr>
          <a:xfrm>
            <a:off x="6790900" y="10478600"/>
            <a:ext cx="14257800" cy="224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향후 확장 방향</a:t>
            </a:r>
            <a:endParaRPr sz="30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다국어 지원 : 영어, 일본어 등 TTS 다국어 강의 자동 생성</a:t>
            </a:r>
            <a:b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아바타 강사 : AI 아바타 합성으로 실제 강사 영상 구현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학습 분석 : 퀴즈 결과 기반 개인화 학습 경로 추천</a:t>
            </a:r>
            <a:b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" sz="2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4. 클라우드 배포 : AWS / GCP 연동으로 서비스 확장</a:t>
            </a:r>
            <a:endParaRPr sz="2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7" name="Google Shape;237;p19"/>
          <p:cNvGrpSpPr/>
          <p:nvPr/>
        </p:nvGrpSpPr>
        <p:grpSpPr>
          <a:xfrm>
            <a:off x="813688" y="3548134"/>
            <a:ext cx="4134900" cy="1308633"/>
            <a:chOff x="656475" y="5181191"/>
            <a:chExt cx="4134900" cy="1695559"/>
          </a:xfrm>
        </p:grpSpPr>
        <p:sp>
          <p:nvSpPr>
            <p:cNvPr id="238" name="Google Shape;238;p19"/>
            <p:cNvSpPr/>
            <p:nvPr/>
          </p:nvSpPr>
          <p:spPr>
            <a:xfrm>
              <a:off x="656475" y="5231550"/>
              <a:ext cx="4134900" cy="1645200"/>
            </a:xfrm>
            <a:prstGeom prst="roundRect">
              <a:avLst>
                <a:gd name="adj" fmla="val 16667"/>
              </a:avLst>
            </a:prstGeom>
            <a:solidFill>
              <a:schemeClr val="lt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19"/>
            <p:cNvSpPr txBox="1"/>
            <p:nvPr/>
          </p:nvSpPr>
          <p:spPr>
            <a:xfrm>
              <a:off x="829875" y="5181191"/>
              <a:ext cx="3788100" cy="779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4000" u="sng" dirty="0">
                  <a:solidFill>
                    <a:schemeClr val="dk2"/>
                  </a:solidFill>
                  <a:latin typeface="Calibri"/>
                  <a:ea typeface="Calibri"/>
                  <a:cs typeface="Calibri"/>
                  <a:sym typeface="Calibri"/>
                  <a:hlinkClick r:id="rId4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동영상 링크(URL)</a:t>
              </a:r>
              <a:endParaRPr sz="4000" dirty="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24150" y="0"/>
            <a:ext cx="11408675" cy="1371599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430000" y="633000"/>
            <a:ext cx="4545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별첨. Gradio 스크린샷</a:t>
            </a:r>
            <a:endParaRPr sz="3200" b="1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556</Words>
  <Application>Microsoft Office PowerPoint</Application>
  <PresentationFormat>사용자 지정</PresentationFormat>
  <Paragraphs>138</Paragraphs>
  <Slides>8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김민지</cp:lastModifiedBy>
  <cp:revision>3</cp:revision>
  <dcterms:modified xsi:type="dcterms:W3CDTF">2026-04-28T07:34:24Z</dcterms:modified>
</cp:coreProperties>
</file>